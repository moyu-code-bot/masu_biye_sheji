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7.svg" ContentType="image/svg+xml"/>
  <Override PartName="/ppt/media/image9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6" Type="http://schemas.openxmlformats.org/officeDocument/2006/relationships/tableStyles" Target="tableStyles.xml"/><Relationship Id="rId15" Type="http://schemas.openxmlformats.org/officeDocument/2006/relationships/viewProps" Target="viewProps.xml"/><Relationship Id="rId14" Type="http://schemas.openxmlformats.org/officeDocument/2006/relationships/presProps" Target="presProps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9" Type="http://schemas.openxmlformats.org/officeDocument/2006/relationships/image" Target="../media/image6.png"/><Relationship Id="rId8" Type="http://schemas.openxmlformats.org/officeDocument/2006/relationships/tags" Target="../tags/tag3.xml"/><Relationship Id="rId7" Type="http://schemas.openxmlformats.org/officeDocument/2006/relationships/tags" Target="../tags/tag2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tags" Target="../tags/tag1.xml"/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5" Type="http://schemas.openxmlformats.org/officeDocument/2006/relationships/notesSlide" Target="../notesSlides/notesSlide1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9.svg"/><Relationship Id="rId12" Type="http://schemas.openxmlformats.org/officeDocument/2006/relationships/image" Target="../media/image8.png"/><Relationship Id="rId11" Type="http://schemas.openxmlformats.org/officeDocument/2006/relationships/tags" Target="../tags/tag4.xml"/><Relationship Id="rId10" Type="http://schemas.openxmlformats.org/officeDocument/2006/relationships/image" Target="../media/image7.sv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10.xml"/><Relationship Id="rId8" Type="http://schemas.openxmlformats.org/officeDocument/2006/relationships/tags" Target="../tags/tag9.xml"/><Relationship Id="rId7" Type="http://schemas.openxmlformats.org/officeDocument/2006/relationships/tags" Target="../tags/tag8.xml"/><Relationship Id="rId6" Type="http://schemas.openxmlformats.org/officeDocument/2006/relationships/tags" Target="../tags/tag7.xml"/><Relationship Id="rId5" Type="http://schemas.openxmlformats.org/officeDocument/2006/relationships/image" Target="../media/image12.svg"/><Relationship Id="rId4" Type="http://schemas.openxmlformats.org/officeDocument/2006/relationships/image" Target="../media/image11.png"/><Relationship Id="rId3" Type="http://schemas.openxmlformats.org/officeDocument/2006/relationships/tags" Target="../tags/tag6.xml"/><Relationship Id="rId29" Type="http://schemas.openxmlformats.org/officeDocument/2006/relationships/notesSlide" Target="../notesSlides/notesSlide2.xml"/><Relationship Id="rId28" Type="http://schemas.openxmlformats.org/officeDocument/2006/relationships/slideLayout" Target="../slideLayouts/slideLayout12.xml"/><Relationship Id="rId27" Type="http://schemas.openxmlformats.org/officeDocument/2006/relationships/image" Target="../media/image20.svg"/><Relationship Id="rId26" Type="http://schemas.openxmlformats.org/officeDocument/2006/relationships/image" Target="../media/image19.png"/><Relationship Id="rId25" Type="http://schemas.openxmlformats.org/officeDocument/2006/relationships/tags" Target="../tags/tag20.xml"/><Relationship Id="rId24" Type="http://schemas.openxmlformats.org/officeDocument/2006/relationships/tags" Target="../tags/tag19.xml"/><Relationship Id="rId23" Type="http://schemas.openxmlformats.org/officeDocument/2006/relationships/image" Target="../media/image18.svg"/><Relationship Id="rId22" Type="http://schemas.openxmlformats.org/officeDocument/2006/relationships/image" Target="../media/image17.png"/><Relationship Id="rId21" Type="http://schemas.openxmlformats.org/officeDocument/2006/relationships/tags" Target="../tags/tag18.xml"/><Relationship Id="rId20" Type="http://schemas.openxmlformats.org/officeDocument/2006/relationships/tags" Target="../tags/tag17.xml"/><Relationship Id="rId2" Type="http://schemas.openxmlformats.org/officeDocument/2006/relationships/tags" Target="../tags/tag5.xml"/><Relationship Id="rId19" Type="http://schemas.openxmlformats.org/officeDocument/2006/relationships/tags" Target="../tags/tag16.xml"/><Relationship Id="rId18" Type="http://schemas.openxmlformats.org/officeDocument/2006/relationships/tags" Target="../tags/tag15.xml"/><Relationship Id="rId17" Type="http://schemas.openxmlformats.org/officeDocument/2006/relationships/image" Target="../media/image16.svg"/><Relationship Id="rId16" Type="http://schemas.openxmlformats.org/officeDocument/2006/relationships/image" Target="../media/image15.png"/><Relationship Id="rId15" Type="http://schemas.openxmlformats.org/officeDocument/2006/relationships/tags" Target="../tags/tag14.xml"/><Relationship Id="rId14" Type="http://schemas.openxmlformats.org/officeDocument/2006/relationships/tags" Target="../tags/tag13.xml"/><Relationship Id="rId13" Type="http://schemas.openxmlformats.org/officeDocument/2006/relationships/tags" Target="../tags/tag12.xml"/><Relationship Id="rId12" Type="http://schemas.openxmlformats.org/officeDocument/2006/relationships/tags" Target="../tags/tag11.xml"/><Relationship Id="rId11" Type="http://schemas.openxmlformats.org/officeDocument/2006/relationships/image" Target="../media/image14.svg"/><Relationship Id="rId10" Type="http://schemas.openxmlformats.org/officeDocument/2006/relationships/image" Target="../media/image13.png"/><Relationship Id="rId1" Type="http://schemas.openxmlformats.org/officeDocument/2006/relationships/image" Target="../media/image10.jpeg"/></Relationships>
</file>

<file path=ppt/slides/_rels/slide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8.svg"/><Relationship Id="rId8" Type="http://schemas.openxmlformats.org/officeDocument/2006/relationships/image" Target="../media/image27.png"/><Relationship Id="rId7" Type="http://schemas.openxmlformats.org/officeDocument/2006/relationships/image" Target="../media/image26.svg"/><Relationship Id="rId6" Type="http://schemas.openxmlformats.org/officeDocument/2006/relationships/image" Target="../media/image25.png"/><Relationship Id="rId5" Type="http://schemas.openxmlformats.org/officeDocument/2006/relationships/image" Target="../media/image24.svg"/><Relationship Id="rId4" Type="http://schemas.openxmlformats.org/officeDocument/2006/relationships/image" Target="../media/image23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7" Type="http://schemas.openxmlformats.org/officeDocument/2006/relationships/notesSlide" Target="../notesSlides/notesSlide3.xml"/><Relationship Id="rId16" Type="http://schemas.openxmlformats.org/officeDocument/2006/relationships/slideLayout" Target="../slideLayouts/slideLayout12.xml"/><Relationship Id="rId15" Type="http://schemas.openxmlformats.org/officeDocument/2006/relationships/image" Target="../media/image30.svg"/><Relationship Id="rId14" Type="http://schemas.openxmlformats.org/officeDocument/2006/relationships/image" Target="../media/image29.png"/><Relationship Id="rId13" Type="http://schemas.openxmlformats.org/officeDocument/2006/relationships/image" Target="../media/image12.svg"/><Relationship Id="rId12" Type="http://schemas.openxmlformats.org/officeDocument/2006/relationships/image" Target="../media/image11.png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35.png"/><Relationship Id="rId7" Type="http://schemas.openxmlformats.org/officeDocument/2006/relationships/image" Target="../media/image34.svg"/><Relationship Id="rId6" Type="http://schemas.openxmlformats.org/officeDocument/2006/relationships/image" Target="../media/image33.png"/><Relationship Id="rId5" Type="http://schemas.openxmlformats.org/officeDocument/2006/relationships/image" Target="../media/image32.svg"/><Relationship Id="rId4" Type="http://schemas.openxmlformats.org/officeDocument/2006/relationships/image" Target="../media/image31.png"/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1" Type="http://schemas.openxmlformats.org/officeDocument/2006/relationships/notesSlide" Target="../notesSlides/notesSlide4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26.xml"/><Relationship Id="rId8" Type="http://schemas.openxmlformats.org/officeDocument/2006/relationships/tags" Target="../tags/tag25.xml"/><Relationship Id="rId7" Type="http://schemas.openxmlformats.org/officeDocument/2006/relationships/tags" Target="../tags/tag24.xml"/><Relationship Id="rId6" Type="http://schemas.openxmlformats.org/officeDocument/2006/relationships/tags" Target="../tags/tag23.xml"/><Relationship Id="rId5" Type="http://schemas.openxmlformats.org/officeDocument/2006/relationships/image" Target="../media/image38.svg"/><Relationship Id="rId4" Type="http://schemas.openxmlformats.org/officeDocument/2006/relationships/image" Target="../media/image37.png"/><Relationship Id="rId38" Type="http://schemas.openxmlformats.org/officeDocument/2006/relationships/notesSlide" Target="../notesSlides/notesSlide5.xml"/><Relationship Id="rId37" Type="http://schemas.openxmlformats.org/officeDocument/2006/relationships/slideLayout" Target="../slideLayouts/slideLayout12.xml"/><Relationship Id="rId36" Type="http://schemas.openxmlformats.org/officeDocument/2006/relationships/tags" Target="../tags/tag45.xml"/><Relationship Id="rId35" Type="http://schemas.openxmlformats.org/officeDocument/2006/relationships/tags" Target="../tags/tag44.xml"/><Relationship Id="rId34" Type="http://schemas.openxmlformats.org/officeDocument/2006/relationships/tags" Target="../tags/tag43.xml"/><Relationship Id="rId33" Type="http://schemas.openxmlformats.org/officeDocument/2006/relationships/image" Target="../media/image22.svg"/><Relationship Id="rId32" Type="http://schemas.openxmlformats.org/officeDocument/2006/relationships/image" Target="../media/image21.png"/><Relationship Id="rId31" Type="http://schemas.openxmlformats.org/officeDocument/2006/relationships/tags" Target="../tags/tag42.xml"/><Relationship Id="rId30" Type="http://schemas.openxmlformats.org/officeDocument/2006/relationships/tags" Target="../tags/tag41.xml"/><Relationship Id="rId3" Type="http://schemas.openxmlformats.org/officeDocument/2006/relationships/tags" Target="../tags/tag22.xml"/><Relationship Id="rId29" Type="http://schemas.openxmlformats.org/officeDocument/2006/relationships/tags" Target="../tags/tag40.xml"/><Relationship Id="rId28" Type="http://schemas.openxmlformats.org/officeDocument/2006/relationships/tags" Target="../tags/tag39.xml"/><Relationship Id="rId27" Type="http://schemas.openxmlformats.org/officeDocument/2006/relationships/tags" Target="../tags/tag38.xml"/><Relationship Id="rId26" Type="http://schemas.openxmlformats.org/officeDocument/2006/relationships/image" Target="../media/image42.svg"/><Relationship Id="rId25" Type="http://schemas.openxmlformats.org/officeDocument/2006/relationships/image" Target="../media/image41.png"/><Relationship Id="rId24" Type="http://schemas.openxmlformats.org/officeDocument/2006/relationships/tags" Target="../tags/tag37.xml"/><Relationship Id="rId23" Type="http://schemas.openxmlformats.org/officeDocument/2006/relationships/tags" Target="../tags/tag36.xml"/><Relationship Id="rId22" Type="http://schemas.openxmlformats.org/officeDocument/2006/relationships/tags" Target="../tags/tag35.xml"/><Relationship Id="rId21" Type="http://schemas.openxmlformats.org/officeDocument/2006/relationships/tags" Target="../tags/tag34.xml"/><Relationship Id="rId20" Type="http://schemas.openxmlformats.org/officeDocument/2006/relationships/tags" Target="../tags/tag33.xml"/><Relationship Id="rId2" Type="http://schemas.openxmlformats.org/officeDocument/2006/relationships/tags" Target="../tags/tag21.xml"/><Relationship Id="rId19" Type="http://schemas.openxmlformats.org/officeDocument/2006/relationships/image" Target="../media/image28.svg"/><Relationship Id="rId18" Type="http://schemas.openxmlformats.org/officeDocument/2006/relationships/image" Target="../media/image27.png"/><Relationship Id="rId17" Type="http://schemas.openxmlformats.org/officeDocument/2006/relationships/tags" Target="../tags/tag32.xml"/><Relationship Id="rId16" Type="http://schemas.openxmlformats.org/officeDocument/2006/relationships/tags" Target="../tags/tag31.xml"/><Relationship Id="rId15" Type="http://schemas.openxmlformats.org/officeDocument/2006/relationships/tags" Target="../tags/tag30.xml"/><Relationship Id="rId14" Type="http://schemas.openxmlformats.org/officeDocument/2006/relationships/tags" Target="../tags/tag29.xml"/><Relationship Id="rId13" Type="http://schemas.openxmlformats.org/officeDocument/2006/relationships/tags" Target="../tags/tag28.xml"/><Relationship Id="rId12" Type="http://schemas.openxmlformats.org/officeDocument/2006/relationships/image" Target="../media/image40.svg"/><Relationship Id="rId11" Type="http://schemas.openxmlformats.org/officeDocument/2006/relationships/image" Target="../media/image39.png"/><Relationship Id="rId10" Type="http://schemas.openxmlformats.org/officeDocument/2006/relationships/tags" Target="../tags/tag27.xml"/><Relationship Id="rId1" Type="http://schemas.openxmlformats.org/officeDocument/2006/relationships/image" Target="../media/image10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tags" Target="../tags/tag51.xml"/><Relationship Id="rId8" Type="http://schemas.openxmlformats.org/officeDocument/2006/relationships/tags" Target="../tags/tag50.xml"/><Relationship Id="rId7" Type="http://schemas.openxmlformats.org/officeDocument/2006/relationships/tags" Target="../tags/tag49.xml"/><Relationship Id="rId6" Type="http://schemas.openxmlformats.org/officeDocument/2006/relationships/tags" Target="../tags/tag48.xml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1" Type="http://schemas.openxmlformats.org/officeDocument/2006/relationships/notesSlide" Target="../notesSlides/notesSlide6.xml"/><Relationship Id="rId30" Type="http://schemas.openxmlformats.org/officeDocument/2006/relationships/slideLayout" Target="../slideLayouts/slideLayout12.xml"/><Relationship Id="rId3" Type="http://schemas.openxmlformats.org/officeDocument/2006/relationships/tags" Target="../tags/tag47.xml"/><Relationship Id="rId29" Type="http://schemas.openxmlformats.org/officeDocument/2006/relationships/tags" Target="../tags/tag65.xml"/><Relationship Id="rId28" Type="http://schemas.openxmlformats.org/officeDocument/2006/relationships/tags" Target="../tags/tag64.xml"/><Relationship Id="rId27" Type="http://schemas.openxmlformats.org/officeDocument/2006/relationships/tags" Target="../tags/tag63.xml"/><Relationship Id="rId26" Type="http://schemas.openxmlformats.org/officeDocument/2006/relationships/image" Target="../media/image46.svg"/><Relationship Id="rId25" Type="http://schemas.openxmlformats.org/officeDocument/2006/relationships/image" Target="../media/image45.png"/><Relationship Id="rId24" Type="http://schemas.openxmlformats.org/officeDocument/2006/relationships/tags" Target="../tags/tag62.xml"/><Relationship Id="rId23" Type="http://schemas.openxmlformats.org/officeDocument/2006/relationships/tags" Target="../tags/tag61.xml"/><Relationship Id="rId22" Type="http://schemas.openxmlformats.org/officeDocument/2006/relationships/tags" Target="../tags/tag60.xml"/><Relationship Id="rId21" Type="http://schemas.openxmlformats.org/officeDocument/2006/relationships/tags" Target="../tags/tag59.xml"/><Relationship Id="rId20" Type="http://schemas.openxmlformats.org/officeDocument/2006/relationships/tags" Target="../tags/tag58.xml"/><Relationship Id="rId2" Type="http://schemas.openxmlformats.org/officeDocument/2006/relationships/tags" Target="../tags/tag46.xml"/><Relationship Id="rId19" Type="http://schemas.openxmlformats.org/officeDocument/2006/relationships/image" Target="../media/image28.svg"/><Relationship Id="rId18" Type="http://schemas.openxmlformats.org/officeDocument/2006/relationships/image" Target="../media/image27.png"/><Relationship Id="rId17" Type="http://schemas.openxmlformats.org/officeDocument/2006/relationships/tags" Target="../tags/tag57.xml"/><Relationship Id="rId16" Type="http://schemas.openxmlformats.org/officeDocument/2006/relationships/tags" Target="../tags/tag56.xml"/><Relationship Id="rId15" Type="http://schemas.openxmlformats.org/officeDocument/2006/relationships/tags" Target="../tags/tag55.xml"/><Relationship Id="rId14" Type="http://schemas.openxmlformats.org/officeDocument/2006/relationships/tags" Target="../tags/tag54.xml"/><Relationship Id="rId13" Type="http://schemas.openxmlformats.org/officeDocument/2006/relationships/tags" Target="../tags/tag53.xml"/><Relationship Id="rId12" Type="http://schemas.openxmlformats.org/officeDocument/2006/relationships/image" Target="../media/image24.svg"/><Relationship Id="rId11" Type="http://schemas.openxmlformats.org/officeDocument/2006/relationships/image" Target="../media/image23.png"/><Relationship Id="rId10" Type="http://schemas.openxmlformats.org/officeDocument/2006/relationships/tags" Target="../tags/tag52.xml"/><Relationship Id="rId1" Type="http://schemas.openxmlformats.org/officeDocument/2006/relationships/image" Target="../media/image10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7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0.svg"/><Relationship Id="rId6" Type="http://schemas.openxmlformats.org/officeDocument/2006/relationships/image" Target="../media/image49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Relationship Id="rId3" Type="http://schemas.openxmlformats.org/officeDocument/2006/relationships/image" Target="../media/image20.svg"/><Relationship Id="rId2" Type="http://schemas.openxmlformats.org/officeDocument/2006/relationships/image" Target="../media/image19.png"/><Relationship Id="rId1" Type="http://schemas.openxmlformats.org/officeDocument/2006/relationships/image" Target="../media/image10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8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54.svg"/><Relationship Id="rId6" Type="http://schemas.openxmlformats.org/officeDocument/2006/relationships/image" Target="../media/image5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Relationship Id="rId3" Type="http://schemas.openxmlformats.org/officeDocument/2006/relationships/image" Target="../media/image22.svg"/><Relationship Id="rId2" Type="http://schemas.openxmlformats.org/officeDocument/2006/relationships/image" Target="../media/image21.png"/><Relationship Id="rId1" Type="http://schemas.openxmlformats.org/officeDocument/2006/relationships/image" Target="../media/image10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5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F1E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50A14">
              <a:alpha val="7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635000" y="1905000"/>
            <a:ext cx="1092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基于Hive+Spark的汽车销售数据分析与研究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2794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毕业设计开题</a:t>
            </a:r>
            <a:r>
              <a:rPr lang="zh-CN" alt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报告</a:t>
            </a:r>
            <a:r>
              <a:rPr lang="en-US" sz="20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答辩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>
            <a:off x="5788660" y="3458210"/>
            <a:ext cx="1122680" cy="381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254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556000" y="38100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3937000" y="3759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汇报人：江磊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3556000" y="42545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7"/>
            </p:custDataLst>
          </p:nvPr>
        </p:nvSpPr>
        <p:spPr>
          <a:xfrm>
            <a:off x="3937000" y="42037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学院：大数据与人工智能学院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3556000" y="46990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>
            <p:custDataLst>
              <p:tags r:id="rId11"/>
            </p:custDataLst>
          </p:nvPr>
        </p:nvSpPr>
        <p:spPr>
          <a:xfrm>
            <a:off x="3937000" y="4648200"/>
            <a:ext cx="508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专业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班级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：数据科学与大数据技术 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</a:t>
            </a: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222</a:t>
            </a:r>
            <a:r>
              <a:rPr lang="zh-CN" alt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班</a:t>
            </a:r>
            <a:endParaRPr lang="zh-CN" altLang="en-US" sz="16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3556000" y="5205095"/>
            <a:ext cx="254000" cy="254000"/>
          </a:xfrm>
          <a:prstGeom prst="rect">
            <a:avLst/>
          </a:prstGeom>
        </p:spPr>
      </p:pic>
      <p:sp>
        <p:nvSpPr>
          <p:cNvPr id="15" name="AutoShape 13"/>
          <p:cNvSpPr/>
          <p:nvPr/>
        </p:nvSpPr>
        <p:spPr>
          <a:xfrm>
            <a:off x="3937000" y="51435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指导教师：</a:t>
            </a:r>
            <a:r>
              <a:rPr lang="zh-CN" alt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郑心科</a:t>
            </a:r>
            <a:endParaRPr lang="zh-CN" altLang="en-US" sz="1400" b="0" i="0" u="none" strike="noStrike">
              <a:solidFill>
                <a:srgbClr val="E5E7E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目 录 / CONTENTS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95500"/>
            <a:ext cx="508000" cy="5080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1714500" y="1968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sp>
        <p:nvSpPr>
          <p:cNvPr id="6" name="AutoShape 6"/>
          <p:cNvSpPr/>
          <p:nvPr>
            <p:custDataLst>
              <p:tags r:id="rId7"/>
            </p:custDataLst>
          </p:nvPr>
        </p:nvSpPr>
        <p:spPr>
          <a:xfrm>
            <a:off x="1714500" y="23495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阐述本研究开展的行业背景、技术背景以及其学术和实践价值。</a:t>
            </a:r>
            <a:endParaRPr lang="en-US" sz="1100"/>
          </a:p>
        </p:txBody>
      </p: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6223000" y="1778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>
            <p:custDataLst>
              <p:tags r:id="rId9"/>
            </p:custDataLst>
          </p:nvPr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2095500"/>
            <a:ext cx="508000" cy="508000"/>
          </a:xfrm>
          <a:prstGeom prst="rect">
            <a:avLst/>
          </a:prstGeom>
        </p:spPr>
      </p:pic>
      <p:sp>
        <p:nvSpPr>
          <p:cNvPr id="9" name="AutoShape 9"/>
          <p:cNvSpPr/>
          <p:nvPr>
            <p:custDataLst>
              <p:tags r:id="rId12"/>
            </p:custDataLst>
          </p:nvPr>
        </p:nvSpPr>
        <p:spPr>
          <a:xfrm>
            <a:off x="7175500" y="1968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主要研究内容</a:t>
            </a:r>
            <a:endParaRPr lang="en-US" sz="1100"/>
          </a:p>
        </p:txBody>
      </p:sp>
      <p:sp>
        <p:nvSpPr>
          <p:cNvPr id="10" name="AutoShape 10"/>
          <p:cNvSpPr/>
          <p:nvPr>
            <p:custDataLst>
              <p:tags r:id="rId13"/>
            </p:custDataLst>
          </p:nvPr>
        </p:nvSpPr>
        <p:spPr>
          <a:xfrm>
            <a:off x="7175500" y="23495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明确本次研究将围绕哪些核心问题展开，具体要解决什么。</a:t>
            </a:r>
            <a:endParaRPr lang="en-US" sz="1100"/>
          </a:p>
        </p:txBody>
      </p:sp>
      <p:sp>
        <p:nvSpPr>
          <p:cNvPr id="11" name="AutoShape 11"/>
          <p:cNvSpPr/>
          <p:nvPr>
            <p:custDataLst>
              <p:tags r:id="rId14"/>
            </p:custDataLst>
          </p:nvPr>
        </p:nvSpPr>
        <p:spPr>
          <a:xfrm>
            <a:off x="762000" y="3429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>
            <p:custDataLst>
              <p:tags r:id="rId15"/>
            </p:custDataLst>
          </p:nvPr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3746500"/>
            <a:ext cx="508000" cy="508000"/>
          </a:xfrm>
          <a:prstGeom prst="rect">
            <a:avLst/>
          </a:prstGeom>
        </p:spPr>
      </p:pic>
      <p:sp>
        <p:nvSpPr>
          <p:cNvPr id="13" name="AutoShape 13"/>
          <p:cNvSpPr/>
          <p:nvPr>
            <p:custDataLst>
              <p:tags r:id="rId18"/>
            </p:custDataLst>
          </p:nvPr>
        </p:nvSpPr>
        <p:spPr>
          <a:xfrm>
            <a:off x="1714500" y="3619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研究方案与技术路线</a:t>
            </a:r>
            <a:endParaRPr lang="en-US" sz="1100"/>
          </a:p>
        </p:txBody>
      </p:sp>
      <p:sp>
        <p:nvSpPr>
          <p:cNvPr id="14" name="AutoShape 14"/>
          <p:cNvSpPr/>
          <p:nvPr>
            <p:custDataLst>
              <p:tags r:id="rId19"/>
            </p:custDataLst>
          </p:nvPr>
        </p:nvSpPr>
        <p:spPr>
          <a:xfrm>
            <a:off x="1714500" y="40005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详细介绍研究将采用的方法、技术栈以及具体的实施步骤。</a:t>
            </a:r>
            <a:endParaRPr lang="en-US" sz="1100"/>
          </a:p>
        </p:txBody>
      </p:sp>
      <p:sp>
        <p:nvSpPr>
          <p:cNvPr id="15" name="AutoShape 15"/>
          <p:cNvSpPr/>
          <p:nvPr>
            <p:custDataLst>
              <p:tags r:id="rId20"/>
            </p:custDataLst>
          </p:nvPr>
        </p:nvSpPr>
        <p:spPr>
          <a:xfrm>
            <a:off x="6223000" y="3429000"/>
            <a:ext cx="5207000" cy="1397000"/>
          </a:xfrm>
          <a:prstGeom prst="roundRect">
            <a:avLst>
              <a:gd name="adj" fmla="val 909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>
            <p:custDataLst>
              <p:tags r:id="rId21"/>
            </p:custDataLst>
          </p:nvPr>
        </p:nvPicPr>
        <p:blipFill>
          <a:blip r:embed="rId2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6477000" y="37465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>
            <p:custDataLst>
              <p:tags r:id="rId24"/>
            </p:custDataLst>
          </p:nvPr>
        </p:nvSpPr>
        <p:spPr>
          <a:xfrm>
            <a:off x="7175500" y="3619500"/>
            <a:ext cx="40005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关键问题及难点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5"/>
            </p:custDataLst>
          </p:nvPr>
        </p:nvSpPr>
        <p:spPr>
          <a:xfrm>
            <a:off x="7175500" y="4000500"/>
            <a:ext cx="40005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分析研究过程中可能遇到的挑战和需要重点攻克的技术难题。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5080000"/>
            <a:ext cx="10668000" cy="1270000"/>
          </a:xfrm>
          <a:prstGeom prst="roundRect">
            <a:avLst>
              <a:gd name="adj" fmla="val 1000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2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016000" y="53975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714500" y="5270500"/>
            <a:ext cx="9525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预期成果与展望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1714500" y="5651500"/>
            <a:ext cx="9525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展示本研究期望达成的目标、产出的成果以及未来的研究方向。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edge/>
      </p:transition>
    </mc:Choice>
    <mc:Fallback>
      <p:transition spd="slow">
        <p:wedg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研究背景与意义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102037">
              <a:alpha val="8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1778000"/>
            <a:ext cx="355600" cy="3556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460500" y="1752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选题背景：数据驱动的变革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291">
            <a:off x="1016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387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数据爆发增长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数字化新能源时代积累海量销售与行为数据，蕴含巨大商业价值。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365500"/>
            <a:ext cx="304800" cy="3048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3401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传统模式瓶颈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传统处理方式效率低、扩展性差，难以满足深度挖掘需求。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318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2926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技术支撑成熟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Hadoop、Spark等大数据技术成熟，提供坚实技术基础。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3" name="AutoShape 13"/>
          <p:cNvSpPr/>
          <p:nvPr/>
        </p:nvSpPr>
        <p:spPr>
          <a:xfrm>
            <a:off x="6223000" y="1524000"/>
            <a:ext cx="5207000" cy="4826000"/>
          </a:xfrm>
          <a:prstGeom prst="roundRect">
            <a:avLst>
              <a:gd name="adj" fmla="val 2631"/>
            </a:avLst>
          </a:prstGeom>
          <a:solidFill>
            <a:srgbClr val="102037">
              <a:alpha val="85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477000" y="17780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921500" y="1752600"/>
            <a:ext cx="3810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研究意义：学术与实践双驱动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291">
            <a:off x="6477009" y="2216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477000" y="2413000"/>
            <a:ext cx="304800" cy="3048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858000" y="23876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学术价值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丰富大数据在汽车领域的应用，探索新的分析模型与方法论，填补领域空白，为后续研究提供新思路。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477000" y="3619500"/>
            <a:ext cx="304800" cy="3048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858000" y="35941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E0F2F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实践价值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为精准营销、客户管理及战略决策提供科学依据，推动电动汽车行业的数字化转型与智能化升级。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heel spokes="8"/>
      </p:transition>
    </mc:Choice>
    <mc:Fallback>
      <p:transition spd="slow">
        <p:wheel spokes="8"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主要研究内容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0D1930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24000" y="2260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挖掘销售趋势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分析不同地区、车型的销量变化，找出销售高峰与低谷的关联因素，帮助企业把握市场脉搏，合理安排产销计划。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223000" y="20320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0D1930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2286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6985000" y="22606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洞察客户需求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477000" y="2730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结合用户画像深度分析购车偏好，找出影响购买决策的关键因素，为精准营销和产品定位提供依据。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762000" y="42545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0D1930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524000" y="44831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优化市场策略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1016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对比分析竞争格局，明确优劣势，为制定差异化市场策略提供数据参考，提升企业核心竞争力。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223000" y="4254500"/>
            <a:ext cx="5207000" cy="2032000"/>
          </a:xfrm>
          <a:prstGeom prst="roundRect">
            <a:avLst>
              <a:gd name="adj" fmla="val 6250"/>
            </a:avLst>
          </a:prstGeom>
          <a:solidFill>
            <a:srgbClr val="0D1930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477000" y="45085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6985000" y="4483100"/>
            <a:ext cx="4191000" cy="444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探索分析流程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6477000" y="49530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总结提炼适用于汽车销售行业的标准化数据分析方法和流程，为行业内其他企业提供可借鉴的经验。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pageCurlDouble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研究方案与技术路线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73200" y="2286000"/>
            <a:ext cx="609600" cy="6096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8890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01 数据采集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7"/>
            </p:custDataLst>
          </p:nvPr>
        </p:nvCxnSpPr>
        <p:spPr>
          <a:xfrm rot="-28647">
            <a:off x="1016026" y="3359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889000" y="34925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从权威公共数据集</a:t>
            </a:r>
            <a:r>
              <a:rPr lang="zh-CN" alt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：</a:t>
            </a: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和鲸社区获取汽车销售相关数据，确保数据源的准确性。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29972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3708400" y="2286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3"/>
            </p:custDataLst>
          </p:nvPr>
        </p:nvSpPr>
        <p:spPr>
          <a:xfrm>
            <a:off x="31242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02 数据预处理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14"/>
            </p:custDataLst>
          </p:nvPr>
        </p:nvCxnSpPr>
        <p:spPr>
          <a:xfrm rot="-28647">
            <a:off x="3251226" y="3359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3124200" y="34925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使用DataX工具进行转换集成，通过清洗、去重等操作，过滤噪声数据，保证数据质量。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52324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5943600" y="22860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20"/>
            </p:custDataLst>
          </p:nvPr>
        </p:nvSpPr>
        <p:spPr>
          <a:xfrm>
            <a:off x="53594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03 数据存储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21"/>
            </p:custDataLst>
          </p:nvPr>
        </p:nvCxnSpPr>
        <p:spPr>
          <a:xfrm rot="-28647">
            <a:off x="5486426" y="3359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22"/>
            </p:custDataLst>
          </p:nvPr>
        </p:nvSpPr>
        <p:spPr>
          <a:xfrm>
            <a:off x="5359400" y="34925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基于HDFS分布式文件系统构建数据仓库，利用Hive进行数据管理和结构化查询。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3"/>
            </p:custDataLst>
          </p:nvPr>
        </p:nvSpPr>
        <p:spPr>
          <a:xfrm>
            <a:off x="74676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8178800" y="2286000"/>
            <a:ext cx="609600" cy="6096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7"/>
            </p:custDataLst>
          </p:nvPr>
        </p:nvSpPr>
        <p:spPr>
          <a:xfrm>
            <a:off x="75946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数据分析</a:t>
            </a:r>
            <a:endParaRPr lang="en-US" sz="1100"/>
          </a:p>
        </p:txBody>
      </p:sp>
      <p:cxnSp>
        <p:nvCxnSpPr>
          <p:cNvPr id="21" name="Connector 21"/>
          <p:cNvCxnSpPr/>
          <p:nvPr>
            <p:custDataLst>
              <p:tags r:id="rId28"/>
            </p:custDataLst>
          </p:nvPr>
        </p:nvCxnSpPr>
        <p:spPr>
          <a:xfrm rot="-28647">
            <a:off x="7721626" y="3359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9"/>
            </p:custDataLst>
          </p:nvPr>
        </p:nvSpPr>
        <p:spPr>
          <a:xfrm>
            <a:off x="7594600" y="34925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采用SparkSQL进行高效分布式计算，深度分析销售趋势与客户偏好，挖掘数据价值。</a:t>
            </a:r>
            <a:endParaRPr lang="en-US" sz="1100"/>
          </a:p>
        </p:txBody>
      </p:sp>
      <p:sp>
        <p:nvSpPr>
          <p:cNvPr id="23" name="AutoShape 23"/>
          <p:cNvSpPr/>
          <p:nvPr>
            <p:custDataLst>
              <p:tags r:id="rId30"/>
            </p:custDataLst>
          </p:nvPr>
        </p:nvSpPr>
        <p:spPr>
          <a:xfrm>
            <a:off x="9702800" y="2032000"/>
            <a:ext cx="2032000" cy="3810000"/>
          </a:xfrm>
          <a:prstGeom prst="roundRect">
            <a:avLst>
              <a:gd name="adj" fmla="val 6250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10414000" y="2286000"/>
            <a:ext cx="609600" cy="609600"/>
          </a:xfrm>
          <a:prstGeom prst="rect">
            <a:avLst/>
          </a:prstGeom>
        </p:spPr>
      </p:pic>
      <p:sp>
        <p:nvSpPr>
          <p:cNvPr id="25" name="AutoShape 25"/>
          <p:cNvSpPr/>
          <p:nvPr>
            <p:custDataLst>
              <p:tags r:id="rId34"/>
            </p:custDataLst>
          </p:nvPr>
        </p:nvSpPr>
        <p:spPr>
          <a:xfrm>
            <a:off x="9829800" y="2984500"/>
            <a:ext cx="177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结果可视化</a:t>
            </a:r>
            <a:endParaRPr lang="en-US" sz="1100"/>
          </a:p>
        </p:txBody>
      </p:sp>
      <p:cxnSp>
        <p:nvCxnSpPr>
          <p:cNvPr id="26" name="Connector 26"/>
          <p:cNvCxnSpPr/>
          <p:nvPr>
            <p:custDataLst>
              <p:tags r:id="rId35"/>
            </p:custDataLst>
          </p:nvPr>
        </p:nvCxnSpPr>
        <p:spPr>
          <a:xfrm rot="-28647">
            <a:off x="9956826" y="3359150"/>
            <a:ext cx="152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7" name="AutoShape 27"/>
          <p:cNvSpPr/>
          <p:nvPr>
            <p:custDataLst>
              <p:tags r:id="rId36"/>
            </p:custDataLst>
          </p:nvPr>
        </p:nvSpPr>
        <p:spPr>
          <a:xfrm>
            <a:off x="9829800" y="3492500"/>
            <a:ext cx="1778000" cy="215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利用FineBI制作交互式仪表盘，将复杂的分析结果直观呈现，辅助业务决策。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00">
        <p14:doors dir="ver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04 关键问题及难点</a:t>
            </a:r>
            <a:endParaRPr lang="en-US" sz="1100"/>
          </a:p>
        </p:txBody>
      </p:sp>
      <p:sp>
        <p:nvSpPr>
          <p:cNvPr id="3" name="AutoShape 3"/>
          <p:cNvSpPr/>
          <p:nvPr>
            <p:custDataLst>
              <p:tags r:id="rId2"/>
            </p:custDataLst>
          </p:nvPr>
        </p:nvSpPr>
        <p:spPr>
          <a:xfrm>
            <a:off x="762000" y="1778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102038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>
            <p:custDataLst>
              <p:tags r:id="rId6"/>
            </p:custDataLst>
          </p:nvPr>
        </p:nvSpPr>
        <p:spPr>
          <a:xfrm>
            <a:off x="15240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数据质量问题</a:t>
            </a:r>
            <a:endParaRPr lang="en-US" sz="1100"/>
          </a:p>
        </p:txBody>
      </p:sp>
      <p:cxnSp>
        <p:nvCxnSpPr>
          <p:cNvPr id="6" name="Connector 6"/>
          <p:cNvCxnSpPr/>
          <p:nvPr>
            <p:custDataLst>
              <p:tags r:id="rId7"/>
            </p:custDataLst>
          </p:nvPr>
        </p:nvCxnSpPr>
        <p:spPr>
          <a:xfrm rot="-9291">
            <a:off x="1016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" name="AutoShape 7"/>
          <p:cNvSpPr/>
          <p:nvPr>
            <p:custDataLst>
              <p:tags r:id="rId8"/>
            </p:custDataLst>
          </p:nvPr>
        </p:nvSpPr>
        <p:spPr>
          <a:xfrm>
            <a:off x="1016000" y="260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公共数据集可能存在缺失值、异常值和数据不一致等问题，设计有效的清洗策略是首要解决的难题。</a:t>
            </a:r>
            <a:endParaRPr lang="en-US" sz="1100"/>
          </a:p>
        </p:txBody>
      </p:sp>
      <p:sp>
        <p:nvSpPr>
          <p:cNvPr id="8" name="AutoShape 8"/>
          <p:cNvSpPr/>
          <p:nvPr>
            <p:custDataLst>
              <p:tags r:id="rId9"/>
            </p:custDataLst>
          </p:nvPr>
        </p:nvSpPr>
        <p:spPr>
          <a:xfrm>
            <a:off x="6223000" y="1778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102038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4770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>
            <p:custDataLst>
              <p:tags r:id="rId13"/>
            </p:custDataLst>
          </p:nvPr>
        </p:nvSpPr>
        <p:spPr>
          <a:xfrm>
            <a:off x="6985000" y="2006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复杂分析实现</a:t>
            </a:r>
            <a:endParaRPr lang="en-US" sz="1100"/>
          </a:p>
        </p:txBody>
      </p:sp>
      <p:cxnSp>
        <p:nvCxnSpPr>
          <p:cNvPr id="11" name="Connector 11"/>
          <p:cNvCxnSpPr/>
          <p:nvPr>
            <p:custDataLst>
              <p:tags r:id="rId14"/>
            </p:custDataLst>
          </p:nvPr>
        </p:nvCxnSpPr>
        <p:spPr>
          <a:xfrm rot="-9291">
            <a:off x="6477009" y="2470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2" name="AutoShape 12"/>
          <p:cNvSpPr/>
          <p:nvPr>
            <p:custDataLst>
              <p:tags r:id="rId15"/>
            </p:custDataLst>
          </p:nvPr>
        </p:nvSpPr>
        <p:spPr>
          <a:xfrm>
            <a:off x="6477000" y="2603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利用SparkSQL高效实现多维度、深层次的销售数据分析和客户偏好挖掘，是技术实现上的一大挑战。</a:t>
            </a:r>
            <a:endParaRPr lang="en-US" sz="1100"/>
          </a:p>
        </p:txBody>
      </p:sp>
      <p:sp>
        <p:nvSpPr>
          <p:cNvPr id="13" name="AutoShape 13"/>
          <p:cNvSpPr/>
          <p:nvPr>
            <p:custDataLst>
              <p:tags r:id="rId16"/>
            </p:custDataLst>
          </p:nvPr>
        </p:nvSpPr>
        <p:spPr>
          <a:xfrm>
            <a:off x="762000" y="419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102038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>
            <p:custDataLst>
              <p:tags r:id="rId17"/>
            </p:custDataLst>
          </p:nvPr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444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>
            <p:custDataLst>
              <p:tags r:id="rId20"/>
            </p:custDataLst>
          </p:nvPr>
        </p:nvSpPr>
        <p:spPr>
          <a:xfrm>
            <a:off x="1524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平台搭建与调优</a:t>
            </a:r>
            <a:endParaRPr lang="en-US" sz="1100"/>
          </a:p>
        </p:txBody>
      </p:sp>
      <p:cxnSp>
        <p:nvCxnSpPr>
          <p:cNvPr id="16" name="Connector 16"/>
          <p:cNvCxnSpPr/>
          <p:nvPr>
            <p:custDataLst>
              <p:tags r:id="rId21"/>
            </p:custDataLst>
          </p:nvPr>
        </p:nvCxnSpPr>
        <p:spPr>
          <a:xfrm rot="-9291">
            <a:off x="1016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7" name="AutoShape 17"/>
          <p:cNvSpPr/>
          <p:nvPr>
            <p:custDataLst>
              <p:tags r:id="rId22"/>
            </p:custDataLst>
          </p:nvPr>
        </p:nvSpPr>
        <p:spPr>
          <a:xfrm>
            <a:off x="1016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Hive+Spark平台涉及环境配置、资源调度和性能优化，确保系统稳定高效运行是实施的关键环节。</a:t>
            </a:r>
            <a:endParaRPr lang="en-US" sz="1100"/>
          </a:p>
        </p:txBody>
      </p:sp>
      <p:sp>
        <p:nvSpPr>
          <p:cNvPr id="18" name="AutoShape 18"/>
          <p:cNvSpPr/>
          <p:nvPr>
            <p:custDataLst>
              <p:tags r:id="rId23"/>
            </p:custDataLst>
          </p:nvPr>
        </p:nvSpPr>
        <p:spPr>
          <a:xfrm>
            <a:off x="6223000" y="4191000"/>
            <a:ext cx="5207000" cy="2159000"/>
          </a:xfrm>
          <a:prstGeom prst="roundRect">
            <a:avLst>
              <a:gd name="adj" fmla="val 5882"/>
            </a:avLst>
          </a:prstGeom>
          <a:solidFill>
            <a:srgbClr val="102038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>
            <p:custDataLst>
              <p:tags r:id="rId24"/>
            </p:custDataLst>
          </p:nvPr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6477000" y="4445000"/>
            <a:ext cx="406400" cy="406400"/>
          </a:xfrm>
          <a:prstGeom prst="rect">
            <a:avLst/>
          </a:prstGeom>
        </p:spPr>
      </p:pic>
      <p:sp>
        <p:nvSpPr>
          <p:cNvPr id="20" name="AutoShape 20"/>
          <p:cNvSpPr/>
          <p:nvPr>
            <p:custDataLst>
              <p:tags r:id="rId27"/>
            </p:custDataLst>
          </p:nvPr>
        </p:nvSpPr>
        <p:spPr>
          <a:xfrm>
            <a:off x="6985000" y="4419600"/>
            <a:ext cx="419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</a:t>
            </a:r>
            <a:r>
              <a:rPr lang="zh-CN" alt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文件字段类型</a:t>
            </a:r>
            <a:endParaRPr lang="zh-CN" altLang="en-US" sz="2000" b="1" i="0" u="none" strike="noStrike">
              <a:solidFill>
                <a:srgbClr val="FFFFFF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cxnSp>
        <p:nvCxnSpPr>
          <p:cNvPr id="21" name="Connector 21"/>
          <p:cNvCxnSpPr/>
          <p:nvPr>
            <p:custDataLst>
              <p:tags r:id="rId28"/>
            </p:custDataLst>
          </p:nvPr>
        </p:nvCxnSpPr>
        <p:spPr>
          <a:xfrm rot="-9291">
            <a:off x="6477009" y="4883150"/>
            <a:ext cx="4699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2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22" name="AutoShape 22"/>
          <p:cNvSpPr/>
          <p:nvPr>
            <p:custDataLst>
              <p:tags r:id="rId29"/>
            </p:custDataLst>
          </p:nvPr>
        </p:nvSpPr>
        <p:spPr>
          <a:xfrm>
            <a:off x="6477000" y="5016500"/>
            <a:ext cx="4699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JSON</a:t>
            </a: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文件处理字段类型时需要上网查询相关字段类型适配再进行修改，用</a:t>
            </a:r>
            <a:r>
              <a:rPr lang="en-US" altLang="zh-CN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datax</a:t>
            </a: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做初步测试，测试成功后再用</a:t>
            </a:r>
            <a:r>
              <a:rPr lang="en-US" altLang="zh-CN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SHELL</a:t>
            </a:r>
            <a:r>
              <a:rPr lang="zh-CN" altLang="en-US" sz="14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脚本导出指标。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mb/>
      </p:transition>
    </mc:Choice>
    <mc:Fallback>
      <p:transition spd="slow">
        <p:comb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05 预期成果与展望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828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574800" y="203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预期成果</a:t>
            </a:r>
            <a:endParaRPr lang="en-US" sz="1100"/>
          </a:p>
        </p:txBody>
      </p:sp>
      <p:cxnSp>
        <p:nvCxnSpPr>
          <p:cNvPr id="6" name="Connector 6"/>
          <p:cNvCxnSpPr/>
          <p:nvPr/>
        </p:nvCxnSpPr>
        <p:spPr>
          <a:xfrm rot="-9766">
            <a:off x="1066809" y="25971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2844800"/>
            <a:ext cx="254000" cy="254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79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构建一套完整的汽车销售数据分析平台原型，并实现数据可视化。</a:t>
            </a:r>
            <a:endParaRPr lang="en-US" sz="1100"/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3606800"/>
            <a:ext cx="254000" cy="254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397000" y="3556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产出一份关于销售趋势、客户需求和市场竞争的深度分析报告。</a:t>
            </a:r>
            <a:endParaRPr lang="en-US" sz="1100"/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66800" y="4368800"/>
            <a:ext cx="254000" cy="254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1397000" y="4318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撰写一篇总结性的研究论文，归纳研究的方法论与实践价值。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350000" y="1778000"/>
            <a:ext cx="5080000" cy="4318000"/>
          </a:xfrm>
          <a:prstGeom prst="roundRect">
            <a:avLst>
              <a:gd name="adj" fmla="val 2941"/>
            </a:avLst>
          </a:prstGeom>
          <a:solidFill>
            <a:srgbClr val="0A19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54800" y="20828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62800" y="2032000"/>
            <a:ext cx="381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未来展望</a:t>
            </a:r>
            <a:endParaRPr lang="en-US" sz="1100"/>
          </a:p>
        </p:txBody>
      </p:sp>
      <p:cxnSp>
        <p:nvCxnSpPr>
          <p:cNvPr id="16" name="Connector 16"/>
          <p:cNvCxnSpPr/>
          <p:nvPr/>
        </p:nvCxnSpPr>
        <p:spPr>
          <a:xfrm rot="-9766">
            <a:off x="6654809" y="2597150"/>
            <a:ext cx="44704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17" name="Picture 1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2844800"/>
            <a:ext cx="254000" cy="254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985000" y="2794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引入机器学习算法，对未来销量进行更精准的预测与建模。</a:t>
            </a:r>
            <a:endParaRPr lang="en-US" sz="1100"/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3606800"/>
            <a:ext cx="254000" cy="254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6985000" y="3556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结合社交媒体舆情、宏观经济等外部数据，开展更全面的交叉分析。</a:t>
            </a:r>
            <a:endParaRPr lang="en-US" sz="1100"/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654800" y="4368800"/>
            <a:ext cx="254000" cy="2540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4318000"/>
            <a:ext cx="4191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DCE6F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将本研究的成果与方法论推广至零售、快消等其他行业的销售分析中。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:blinds/>
      </p:transition>
    </mc:Choice>
    <mc:Fallback>
      <p:transition spd="slow">
        <p:blinds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762000" y="1016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B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101E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286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016000" y="298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研究目标与挑战</a:t>
            </a:r>
            <a:endParaRPr lang="en-US" sz="1100"/>
          </a:p>
        </p:txBody>
      </p:sp>
      <p:cxnSp>
        <p:nvCxnSpPr>
          <p:cNvPr id="7" name="Connector 7"/>
          <p:cNvCxnSpPr/>
          <p:nvPr/>
        </p:nvCxnSpPr>
        <p:spPr>
          <a:xfrm rot="-15626">
            <a:off x="1016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" name="AutoShape 8"/>
          <p:cNvSpPr/>
          <p:nvPr/>
        </p:nvSpPr>
        <p:spPr>
          <a:xfrm>
            <a:off x="1016000" y="355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利用Hive+Spark技术深度分析汽车销售数据，解决传统方法在海量数据处理中的瓶颈，挖掘销售趋势与客户需求。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101E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99000" y="22860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699000" y="298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决策支持与价值</a:t>
            </a:r>
            <a:endParaRPr lang="en-US" sz="1100"/>
          </a:p>
        </p:txBody>
      </p:sp>
      <p:cxnSp>
        <p:nvCxnSpPr>
          <p:cNvPr id="12" name="Connector 12"/>
          <p:cNvCxnSpPr/>
          <p:nvPr/>
        </p:nvCxnSpPr>
        <p:spPr>
          <a:xfrm rot="-15626">
            <a:off x="4699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3" name="AutoShape 13"/>
          <p:cNvSpPr/>
          <p:nvPr/>
        </p:nvSpPr>
        <p:spPr>
          <a:xfrm>
            <a:off x="4699000" y="355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为企业提供数据驱动的决策支持，预期成果兼具学术研究价值与实际应用意义，助力业务优化与增长。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3556000"/>
          </a:xfrm>
          <a:prstGeom prst="roundRect">
            <a:avLst>
              <a:gd name="adj" fmla="val 3846"/>
            </a:avLst>
          </a:prstGeom>
          <a:solidFill>
            <a:srgbClr val="101E2D">
              <a:alpha val="70000"/>
            </a:srgbClr>
          </a:solidFill>
          <a:ln w="12700" cap="flat" cmpd="sng">
            <a:solidFill>
              <a:srgbClr val="00B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82000" y="2286000"/>
            <a:ext cx="609600" cy="6096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382000" y="2984500"/>
            <a:ext cx="279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方案可行性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15626">
            <a:off x="8382014" y="3422650"/>
            <a:ext cx="2794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00BFFF">
                <a:alpha val="5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8382000" y="3556000"/>
            <a:ext cx="2794000" cy="177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DCDCD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整体研究方案设计清晰，技术路线成熟可行，具备完整的实施路径，确保项目能够顺利推进并达成预期目标。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cover dir="d"/>
      </p:transition>
    </mc:Choice>
    <mc:Fallback>
      <p:transition spd="slow">
        <p:cover dir="d"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25400" cap="flat" cmpd="sng">
            <a:noFill/>
            <a:prstDash val="solid"/>
            <a:round/>
          </a:ln>
        </p:spPr>
      </p:pic>
      <p:sp>
        <p:nvSpPr>
          <p:cNvPr id="3" name="AutoShape 3"/>
          <p:cNvSpPr/>
          <p:nvPr/>
        </p:nvSpPr>
        <p:spPr>
          <a:xfrm>
            <a:off x="1016000" y="2286000"/>
            <a:ext cx="1016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0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感谢聆听 敬请指导！</a:t>
            </a:r>
            <a:endParaRPr lang="en-US" sz="1100"/>
          </a:p>
        </p:txBody>
      </p:sp>
      <p:cxnSp>
        <p:nvCxnSpPr>
          <p:cNvPr id="4" name="Connector 4"/>
          <p:cNvCxnSpPr/>
          <p:nvPr/>
        </p:nvCxnSpPr>
        <p:spPr>
          <a:xfrm rot="-34376">
            <a:off x="5461032" y="3422650"/>
            <a:ext cx="127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38100" cap="flat" cmpd="sng">
            <a:solidFill>
              <a:srgbClr val="00BFFF">
                <a:alpha val="100000"/>
              </a:srgbClr>
            </a:solidFill>
            <a:prstDash val="solid"/>
            <a:round/>
            <a:headEnd type="none" w="lg" len="lg"/>
            <a:tailEnd type="none" w="lg" len="lg"/>
          </a:ln>
        </p:spPr>
      </p:cxnSp>
      <p:sp>
        <p:nvSpPr>
          <p:cNvPr id="5" name="AutoShape 5"/>
          <p:cNvSpPr/>
          <p:nvPr/>
        </p:nvSpPr>
        <p:spPr>
          <a:xfrm>
            <a:off x="1016000" y="3683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LISTENING</a:t>
            </a:r>
            <a:endParaRPr lang="en-US" sz="1100"/>
          </a:p>
        </p:txBody>
      </p:sp>
    </p:spTree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Requires="p14" p14:dur="1250">
        <p15:prstTrans prst="airplane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65,&quot;left&quot;:280,&quot;top&quot;:331,&quot;width&quot;:430}"/>
</p:tagLst>
</file>

<file path=ppt/tags/tag2.xml><?xml version="1.0" encoding="utf-8"?>
<p:tagLst xmlns:p="http://schemas.openxmlformats.org/presentationml/2006/main">
  <p:tag name="KSO_WM_DIAGRAM_VIRTUALLY_FRAME" val="{&quot;height&quot;:65,&quot;left&quot;:280,&quot;top&quot;:331,&quot;width&quot;:430}"/>
</p:tagLst>
</file>

<file path=ppt/tags/tag3.xml><?xml version="1.0" encoding="utf-8"?>
<p:tagLst xmlns:p="http://schemas.openxmlformats.org/presentationml/2006/main">
  <p:tag name="KSO_WM_DIAGRAM_VIRTUALLY_FRAME" val="{&quot;height&quot;:65,&quot;left&quot;:280,&quot;top&quot;:331,&quot;width&quot;:430}"/>
</p:tagLst>
</file>

<file path=ppt/tags/tag4.xml><?xml version="1.0" encoding="utf-8"?>
<p:tagLst xmlns:p="http://schemas.openxmlformats.org/presentationml/2006/main">
  <p:tag name="KSO_WM_DIAGRAM_VIRTUALLY_FRAME" val="{&quot;height&quot;:65,&quot;left&quot;:280,&quot;top&quot;:331,&quot;width&quot;:430}"/>
</p:tagLst>
</file>

<file path=ppt/tags/tag5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6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7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8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9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0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1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2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3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4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5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6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7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8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19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20.xml><?xml version="1.0" encoding="utf-8"?>
<p:tagLst xmlns:p="http://schemas.openxmlformats.org/presentationml/2006/main">
  <p:tag name="KSO_WM_DIAGRAM_VIRTUALLY_FRAME" val="{&quot;height&quot;:240,&quot;left&quot;:60,&quot;top&quot;:140,&quot;width&quot;:840}"/>
</p:tagLst>
</file>

<file path=ppt/tags/tag21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2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3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4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5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6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7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8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29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0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1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2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3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4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5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6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7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8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39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0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1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2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3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4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5.xml><?xml version="1.0" encoding="utf-8"?>
<p:tagLst xmlns:p="http://schemas.openxmlformats.org/presentationml/2006/main">
  <p:tag name="KSO_WM_DIAGRAM_VIRTUALLY_FRAME" val="{&quot;height&quot;:300,&quot;left&quot;:60,&quot;top&quot;:160,&quot;width&quot;:864}"/>
</p:tagLst>
</file>

<file path=ppt/tags/tag4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47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48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49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0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6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7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8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59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0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1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2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3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4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ags/tag65.xml><?xml version="1.0" encoding="utf-8"?>
<p:tagLst xmlns:p="http://schemas.openxmlformats.org/presentationml/2006/main">
  <p:tag name="KSO_WM_DIAGRAM_VIRTUALLY_FRAME" val="{&quot;height&quot;:360,&quot;left&quot;:60,&quot;top&quot;:140,&quot;width&quot;:840}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1601</Words>
  <Application>WPS 演示</Application>
  <PresentationFormat/>
  <Paragraphs>149</Paragraphs>
  <Slides>9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墨雨</cp:lastModifiedBy>
  <cp:revision>7</cp:revision>
  <dcterms:created xsi:type="dcterms:W3CDTF">2026-02-06T13:56:00Z</dcterms:created>
  <dcterms:modified xsi:type="dcterms:W3CDTF">2026-02-07T01:37:14Z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5DBA2568EB8D443DB617A2DBFAAD77DB_13</vt:lpwstr>
  </property>
  <property fmtid="{D5CDD505-2E9C-101B-9397-08002B2CF9AE}" pid="3" name="KSOProductBuildVer">
    <vt:lpwstr>2052-12.1.0.24657</vt:lpwstr>
  </property>
</Properties>
</file>